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50" autoAdjust="0"/>
  </p:normalViewPr>
  <p:slideViewPr>
    <p:cSldViewPr snapToGrid="0">
      <p:cViewPr varScale="1">
        <p:scale>
          <a:sx n="91" d="100"/>
          <a:sy n="91" d="100"/>
        </p:scale>
        <p:origin x="131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大家好，欢迎来到第4.5课。今天我们将深入探讨如何为TaskGraph的长程运行进行补强。我们将重点介绍三个核心技术：Context Pack、Reconciliation以及Entity-Ref兜底机制。这节课旨在解决长程运行中上下文膨胀和准确性下降的关键痛点，让我们的系统更加稳定和高效。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探讨解决方案之前，我们必须先理解问题的严重性。传统的做法是将整个TaskGraph喂给Extractor，这会导致一个致命问题：任务图越大，需要处理的上下文就越多，这不仅会迅速耗尽我们的token额度，还会稀释指令的有效性，最终导致准确性急剧下降。我们的核心矛盾就在于，上下文的增长是线性的O(N)，而我们追求的是恒定的O(1)复杂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为了解决这个问题，我们引入了“三把火”策略，分别对应效能、正确和安全。第一，通过Slice Builder节省token，提升效能。第二，通过全图级的机械校验来保证正确性。第三，通过有界重试和失败隔离机制来保障系统的安全性。这三者共同构成了我们长程运行补强的核心。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至关重要的认知需要明确：切片机制只负责节省token，它不保证信息的完整性和正确性。漏召回是不可避免的。因此，我们必须依赖两道独立于LLM的机械校验关卡来确保最终结果的正确性。第一道是在应用Patch前进行的Reconcile，第二道是在应用Patch后进行的Graph Lint。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兜底机制如何才能“硬”起来呢？关键在于`entity_ref`。过去，我们依赖语义相似度来匹配节点，这很容易出错。现在，通过引入`entity_ref`，我们将模糊的语义匹配降级为精确的字符串相等判断。这就像从猜测变成了精确的齿轮咬合，既可靠又高效，是整个兜底机制能够坚实运作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现这一切的第一步，是对我们的数据Schema进行升级。我们为每个节点新增了两个关键字段：entity_ref和state。entity_ref作为稳定的实体标识，是Reconcile进行冲突判定的依据。而state则是一个归一化的枚举值，是后续Fixture的必填项。这个小小的改动，是整个补强方案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这张图展示了我们补强后的最小闭环流程。从Extractor产出Patch开始，它首先会经过Reconcile关卡。如果失败，会触发重试；如果通过，则应用到旧图上。生成的新图接着会进入Graph Lint关卡进行全局校验。同样，失败会触发重试或隔离，成功则更新主图。这个闭环确保了每一次更新都经过了严格的校验。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Reconcile和Lint到底有什么区别？简单来说，Reconcile在应用Patch前，检查Patch自身是否与旧图冲突，它关注的是Patch的自洽性。而Lint在应用Patch后，检查新生成的整图是否满足全局不变量。一个是“事前”检查，一个是“事后”检查，分工明确，缺一不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Reconciliation的具体逻辑。当一个带有entity_ref的新节点到来时，我们会检查旧图中是否存在相同ref的活跃节点。如果新旧状态互斥，但Patch没有声明invalidates来废止旧节点，就会抛出错误。对于没有entity_ref的节点，我们采取弱兜底策略，只发出警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Graph Lint则负责对整张图进行全局的机械校验。它不调用LLM，纯粹基于规则。它会检查节点ID是否重复、边是否悬空、是否存在孤立节点，以及非常关键的一点：相同entity_ref下不能有互斥的活跃状态并存。这就像给Agent的整图做一次全面的身体检查，确保其结构健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校验失败时，我们需要进行有界重试。Reconcile失败通常意味着Extractor漏判了某些信息，重试是有意义的。Lint失败则需要区分是本轮引入的问题还是存量脏图。最关键的是，重试必须带着结构化的错误报告回去，让LLM在下一轮能明确地知道错在哪里，从而修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重试超过了设定的上限（比如2-3次）仍然失败，我们就必须采取隔离策略。我们会拒绝合并这个有问题的Patch，并将其隔离记录下来。这个原则非常重要：宁可漏记一轮，也绝不能让一个脏Patch污染整个主图，否则错误会沿着Ref无限传播，导致灾难性后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我们的方案是否有效，我们制定了清晰的验收标准。我们需要构造各种Fixture来测试不同场景：正常切片、故意漏召回看Reconcile是否报错、修复后看Lint是否通过、测试弱兜底机制，以及最终验证失败隔离是否能保护主图不被污染。所有测试都必须基于带有`entity_ref`的节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今天学习了如何通过结构化Schema、全图级的机械校验以及有界重试和失败隔离这三大支柱，来保证TaskGraph长程运行的正确性。请记住两个核心认知：切片只负责效能不保证正确，而失败隔离是完整闭环不可或缺的一环。下一步，我们将深入探讨如何将Slice、Prompt到重试隔离的整个链路串联起来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jpe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5" Type="http://schemas.openxmlformats.org/officeDocument/2006/relationships/image" Target="../media/image4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jpeg"/><Relationship Id="rId7" Type="http://schemas.openxmlformats.org/officeDocument/2006/relationships/image" Target="../media/image46.sv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590675" y="2413000"/>
            <a:ext cx="901065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 4.5 课 — </a:t>
            </a:r>
            <a:r>
              <a:rPr lang="en-US" sz="6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r>
              <a:rPr lang="en-US" sz="6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6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长程运行补强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4191000" y="4191000"/>
            <a:ext cx="3810000" cy="381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Pack · Reconciliation · Entity-Ref 兜底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zh-CN" altLang="en-US" sz="16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刘海龙</a:t>
            </a: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]  |  2026.06.08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B8C99AA-6AAA-CB83-B59B-665BE0A434FF}"/>
              </a:ext>
            </a:extLst>
          </p:cNvPr>
          <p:cNvSpPr/>
          <p:nvPr/>
        </p:nvSpPr>
        <p:spPr>
          <a:xfrm>
            <a:off x="2554867" y="1298027"/>
            <a:ext cx="7082265" cy="4004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459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长程运行的生死线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8540">
            <a:off x="4191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01. 传统流程的致命缺陷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225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048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原流程：直接将完整、未裁剪的 JSON TaskGraph 全盘喂给 Extractor，未做任何上下文管理。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50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445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系统后果：任务图规模越大，上下文负载越重，直接导致</a:t>
            </a:r>
            <a:r>
              <a:rPr lang="en-US" sz="16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Token 耗尽、指令稀释、准确性断崖式下跌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，最终让长程运行变得不可持续。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032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02. 不可调和的复杂度矛盾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 l="7207" r="7207"/>
          <a:stretch>
            <a:fillRect/>
          </a:stretch>
        </p:blipFill>
        <p:spPr>
          <a:xfrm>
            <a:off x="6477000" y="2921000"/>
            <a:ext cx="2667000" cy="1905000"/>
          </a:xfrm>
          <a:prstGeom prst="rect">
            <a:avLst/>
          </a:prstGeom>
          <a:noFill/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9271000" y="2921000"/>
            <a:ext cx="228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图表展示了元素数量与所需步骤数的关系。O(N) 的线性增长与我们追求的恒定开销形成了鲜明冲突。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5080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5207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核心矛盾：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上下文需求随节点数呈</a:t>
            </a:r>
            <a:r>
              <a:rPr lang="en-US" sz="15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O(N)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线性爆炸，而工业级系统的稳定性要求我们必须实现开销可控的</a:t>
            </a:r>
            <a:r>
              <a:rPr lang="en-US" sz="15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O(1)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复杂度。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效能、正确、安全的“三把火”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9687" r="19687"/>
          <a:stretch>
            <a:fillRect/>
          </a:stretch>
        </p:blipFill>
        <p:spPr>
          <a:xfrm>
            <a:off x="952500" y="22225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683000"/>
            <a:ext cx="2997200" cy="381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937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省 token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635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 Slice Builder 产出有限切片，精准控制资源消耗，从源头提升系统运行效能。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84700" y="22225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84700" y="3683000"/>
            <a:ext cx="2997200" cy="381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84700" y="3937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保正确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4700" y="4635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以全图级机械校验机制兜底，结合 Reconcile 与 Lint 双重检查，确保数据与逻辑的绝对正确。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l="21857" r="21857"/>
          <a:stretch>
            <a:fillRect/>
          </a:stretch>
        </p:blipFill>
        <p:spPr>
          <a:xfrm>
            <a:off x="8216900" y="22225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216900" y="3683000"/>
            <a:ext cx="2997200" cy="381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16900" y="3937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03 可兜底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16900" y="4635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建立有界重试策略与严格的失败隔离机制，防止故障扩散，为系统运行提供坚实的安全底线。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76200" cy="762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100000"/>
                </a:srgbClr>
              </a:gs>
              <a:gs pos="50000">
                <a:srgbClr val="39FF14">
                  <a:alpha val="100000"/>
                </a:srgbClr>
              </a:gs>
              <a:gs pos="100000">
                <a:srgbClr val="FF8C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84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核心总结：切片管效能，校验管正确，隔离管安全，三者协同构建长程运行的坚固底座。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最重要的认知：切片不负责正确性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8635" b="8635"/>
          <a:stretch>
            <a:fillRect/>
          </a:stretch>
        </p:blipFill>
        <p:spPr>
          <a:xfrm>
            <a:off x="762000" y="2032000"/>
            <a:ext cx="3810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3810000" cy="889000"/>
          </a:xfrm>
          <a:prstGeom prst="roundRect">
            <a:avLst>
              <a:gd name="adj" fmla="val 0"/>
            </a:avLst>
          </a:prstGeom>
          <a:solidFill>
            <a:srgbClr val="39FF14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5461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架构视角：切片（Extractor）位于顶层，仅作为信息提取手段，其输出的Patch必须经过底层机械校验才能落地。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9889">
            <a:off x="3048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9FF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588000" y="20320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88000" y="2032000"/>
            <a:ext cx="50800" cy="15240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842000" y="21590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Slice Builder 只省 Token，不保正确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切片机制的核心目标是降低LLM的上下文开销，但信息的“漏召回（False Negative）”是其固有的、不可避免的副作用。正确性不能依赖LLM的生成质量。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88000" y="3937000"/>
            <a:ext cx="2857500" cy="2159000"/>
          </a:xfrm>
          <a:prstGeom prst="roundRect">
            <a:avLst>
              <a:gd name="adj" fmla="val 0"/>
            </a:avLst>
          </a:prstGeom>
          <a:solidFill>
            <a:srgbClr val="39FF14">
              <a:alpha val="5000"/>
            </a:srgbClr>
          </a:solidFill>
          <a:ln w="12700" cap="flat" cmpd="sng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4127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223000" y="4089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应用前 · Reconcile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7629">
            <a:off x="5778516" y="4629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5778500" y="482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 reconcile_patch.py，在Patch应用到图结构前，复核其逻辑自洽性，拦截明显的结构冲突。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36000" y="3937000"/>
            <a:ext cx="2857500" cy="2159000"/>
          </a:xfrm>
          <a:prstGeom prst="roundRect">
            <a:avLst>
              <a:gd name="adj" fmla="val 0"/>
            </a:avLst>
          </a:prstGeom>
          <a:solidFill>
            <a:srgbClr val="39FF14">
              <a:alpha val="5000"/>
            </a:srgbClr>
          </a:solidFill>
          <a:ln w="12700" cap="flat" cmpd="sng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6500" y="4127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4089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应用后 · Graph Lint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7629">
            <a:off x="8826516" y="4629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826500" y="482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 graph_lint.py，校验整图的关键不变量（Invariants），确保系统拓扑和业务规则未被破坏。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兜底能“硬”起来的前提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286000"/>
            <a:ext cx="165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921000" y="2286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01. 传统方案：模糊的“语义猜”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2921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921000" y="31115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单纯依赖词面含义或Embedding向量进行相似度判定，缺乏明确的匹配锚点。在复杂、多义的真实语境中，模型极易出现切片错误，导致匹配结果不可控且不稳定。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007BFF">
              <a:alpha val="12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28242" r="28242"/>
          <a:stretch>
            <a:fillRect/>
          </a:stretch>
        </p:blipFill>
        <p:spPr>
          <a:xfrm>
            <a:off x="6477000" y="2286000"/>
            <a:ext cx="165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382000" y="2286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02. 革新方案：机械的“精确配”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626">
            <a:off x="8382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382000" y="31115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引入`entity_ref`作为唯一身份标识，将不可靠的“语义博弈”降级为</a:t>
            </a:r>
            <a:r>
              <a:rPr lang="en-US" sz="1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“精确字符串相等”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校验。如同精密齿轮咬合，结果绝对可靠，且计算成本低廉，易于工程实现。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007BFF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79500" y="5613400"/>
            <a:ext cx="10096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摒弃“猜”的不确定性，用机械的精确匹配构建兜底机制的信任基石，让系统从“大概对”走向“绝对准”。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Schema 升级 (Step 0)：新增两个关键字段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6604000" cy="3429000"/>
          </a:xfrm>
          <a:prstGeom prst="roundRect">
            <a:avLst>
              <a:gd name="adj" fmla="val 0"/>
            </a:avLst>
          </a:prstGeom>
          <a:solidFill>
            <a:srgbClr val="0F0F0F">
              <a:alpha val="85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6223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"$schema": "http://json-schema.org/draft-07/schema#", "type": "object",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"properties": { "nodes": { "type": "array", "items": {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"properties": {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"id": { "type": "string" }, "type": { "type": "string" },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9FF14"/>
                </a:solidFill>
                <a:latin typeface="Consolas"/>
                <a:ea typeface="Consolas"/>
                <a:cs typeface="Consolas"/>
                <a:sym typeface="Consolas"/>
              </a:rPr>
              <a:t>"entity_ref": { "type": "string", "description": "稳定实体标识（工单号、API路径...）" },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7F00"/>
                </a:solidFill>
                <a:latin typeface="Consolas"/>
                <a:ea typeface="Consolas"/>
                <a:cs typeface="Consolas"/>
                <a:sym typeface="Consolas"/>
              </a:rPr>
              <a:t>"state": { "type": "string", "enum": ["open", "blocked", "resolved"], "description": "归一化枚举状态" }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}, "required": ["id", "type", "entity_ref", "state"]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}}}}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9FF14">
              <a:alpha val="10000"/>
            </a:srgbClr>
          </a:solidFill>
          <a:ln w="12700" cap="flat" cmpd="sng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5842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这两个关键字段的植入，构建了数据模型的核心骨架：以</a:t>
            </a:r>
            <a:r>
              <a:rPr lang="en-US" sz="1400" b="1" i="0" u="none" strike="noStrike">
                <a:solidFill>
                  <a:srgbClr val="39FF14"/>
                </a:solidFill>
                <a:latin typeface="Consolas"/>
                <a:ea typeface="Consolas"/>
                <a:cs typeface="Consolas"/>
                <a:sym typeface="Consolas"/>
              </a:rPr>
              <a:t>entity_ref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锚定实体身份，以</a:t>
            </a:r>
            <a:r>
              <a:rPr lang="en-US" sz="1400" b="1" i="0" u="none" strike="noStrike">
                <a:solidFill>
                  <a:srgbClr val="FF7F00"/>
                </a:solidFill>
                <a:latin typeface="Consolas"/>
                <a:ea typeface="Consolas"/>
                <a:cs typeface="Consolas"/>
                <a:sym typeface="Consolas"/>
              </a:rPr>
              <a:t>state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规范生命周期流转，是实现自动化 Reconcile 与 Fixture 执行的底层基石。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874000" y="2032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1E1E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874000" y="2032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128000" y="2159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Consolas"/>
                <a:ea typeface="Consolas"/>
                <a:cs typeface="Consolas"/>
                <a:sym typeface="Consolas"/>
              </a:rPr>
              <a:t>entity_ref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Reconcile 冲突判定的核心依据。通过绑定工单、API路径等业务侧的稳定标识，确保不同版本间实体身份可被唯一识别与追溯，避免数据漂移。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874000" y="3937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1E1E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0" y="3937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4064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7F00"/>
                </a:solidFill>
                <a:latin typeface="Consolas"/>
                <a:ea typeface="Consolas"/>
                <a:cs typeface="Consolas"/>
                <a:sym typeface="Consolas"/>
              </a:rPr>
              <a:t>state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Fixture 自动化执行的必填枚举项。定义了节点全生命周期的标准状态集合（open/blocked/resolved等），为流程自动化流转提供了统一的判定基准。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最小闭环流程全景图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007BFF">
              <a:alpha val="25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2667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Extractor (LLM)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基于语义分析自动产出架构Patch，作为流程的起始输入节点，奠定数据基础。</a:t>
            </a:r>
          </a:p>
        </p:txBody>
      </p:sp>
      <p:cxnSp>
        <p:nvCxnSpPr>
          <p:cNvPr id="6" name="Connector 6"/>
          <p:cNvCxnSpPr/>
          <p:nvPr/>
        </p:nvCxnSpPr>
        <p:spPr>
          <a:xfrm rot="-114549">
            <a:off x="3111606" y="3295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7" name="AutoShape 7"/>
          <p:cNvSpPr/>
          <p:nvPr/>
        </p:nvSpPr>
        <p:spPr>
          <a:xfrm>
            <a:off x="3556000" y="2540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007BFF">
              <a:alpha val="25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683000" y="2667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Reconcile 协调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校验Patch逻辑合理性与兼容性，判断其是否可被系统安全接纳，拦截基础错误。</a:t>
            </a:r>
          </a:p>
        </p:txBody>
      </p:sp>
      <p:cxnSp>
        <p:nvCxnSpPr>
          <p:cNvPr id="9" name="Connector 9"/>
          <p:cNvCxnSpPr/>
          <p:nvPr/>
        </p:nvCxnSpPr>
        <p:spPr>
          <a:xfrm rot="-114549">
            <a:off x="5905606" y="3295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0" name="AutoShape 10"/>
          <p:cNvSpPr/>
          <p:nvPr/>
        </p:nvSpPr>
        <p:spPr>
          <a:xfrm>
            <a:off x="6350000" y="2540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007BFF">
              <a:alpha val="25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Apply Patch 应用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将校验通过的Patch合并至旧图版本，生成新的架构图快照，完成核心变更操作。</a:t>
            </a:r>
          </a:p>
        </p:txBody>
      </p:sp>
      <p:cxnSp>
        <p:nvCxnSpPr>
          <p:cNvPr id="12" name="Connector 12"/>
          <p:cNvCxnSpPr/>
          <p:nvPr/>
        </p:nvCxnSpPr>
        <p:spPr>
          <a:xfrm rot="-342635">
            <a:off x="8699817" y="32956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3" name="AutoShape 13"/>
          <p:cNvSpPr/>
          <p:nvPr/>
        </p:nvSpPr>
        <p:spPr>
          <a:xfrm>
            <a:off x="8890000" y="2540000"/>
            <a:ext cx="2540000" cy="1524000"/>
          </a:xfrm>
          <a:prstGeom prst="roundRect">
            <a:avLst>
              <a:gd name="adj" fmla="val 0"/>
            </a:avLst>
          </a:prstGeom>
          <a:solidFill>
            <a:srgbClr val="007BFF">
              <a:alpha val="25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017000" y="26670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Graph Lint 全局校验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执行全局结构、依赖关系与规则检查，确保新图无冲突、无孤岛节点，保障拓扑合法性。</a:t>
            </a:r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4502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62000" y="4826000"/>
            <a:ext cx="5397500" cy="1397000"/>
          </a:xfrm>
          <a:prstGeom prst="roundRect">
            <a:avLst>
              <a:gd name="adj" fmla="val 0"/>
            </a:avLst>
          </a:prstGeom>
          <a:solidFill>
            <a:srgbClr val="FF8C00">
              <a:alpha val="15000"/>
            </a:srgbClr>
          </a:solidFill>
          <a:ln w="12700" cap="flat" cmpd="sng">
            <a:solidFill>
              <a:srgbClr val="FF8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49530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异常熔断 (Fail Path)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Reconcile或Graph Lint环节校验失败时，系统触发自动重试机制；若重试达到阈值仍未通过，则将该Patch标记并移入人工隔离队列，避免脏数据污染主图基线，保障系统稳定性。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540500" y="4826000"/>
            <a:ext cx="5143500" cy="1397000"/>
          </a:xfrm>
          <a:prstGeom prst="roundRect">
            <a:avLst>
              <a:gd name="adj" fmla="val 0"/>
            </a:avLst>
          </a:prstGeom>
          <a:solidFill>
            <a:srgbClr val="39FF14">
              <a:alpha val="15000"/>
            </a:srgbClr>
          </a:solidFill>
          <a:ln w="12700" cap="flat" cmpd="sng">
            <a:solidFill>
              <a:srgbClr val="39FF1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67500" y="4953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✅ 版本更新 (Pass Path)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双重校验全部通过后，系统自动更新主图版本库，同步生成详细变更日志与操作快照，完成一次完整的架构演进闭环，确保主图状态与实际业务逻辑高度一致。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reconcile 与 lint 的真正分工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20955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603500" y="2032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Reconcile：事前干预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 Patch 应用前的检查，像机械钳一样精准咬合旧图节点，确保变更指令自身无逻辑冲突，是架构的第一道防线。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159500" y="1905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0000" y="20955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001000" y="2032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Lint：事后全局扫描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 Patch 应用完成后执行，以雷达扫描的方式覆盖整张新图，校验全局拓扑与状态是否满足预设的系统不变量，确保架构的最终一致性。</a:t>
            </a:r>
          </a:p>
        </p:txBody>
      </p:sp>
      <p:cxnSp>
        <p:nvCxnSpPr>
          <p:cNvPr id="10" name="Connector 10"/>
          <p:cNvCxnSpPr/>
          <p:nvPr/>
        </p:nvCxnSpPr>
        <p:spPr>
          <a:xfrm rot="-4092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62000" y="4318000"/>
            <a:ext cx="228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2286000" cy="457200"/>
          </a:xfrm>
          <a:prstGeom prst="roundRect">
            <a:avLst>
              <a:gd name="adj" fmla="val 0"/>
            </a:avLst>
          </a:prstGeom>
          <a:solidFill>
            <a:srgbClr val="007B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3942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核心特性维度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49530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从执行时机、校验口径、数据输入到核心校验对象，构建全流程的分工对照体系，明确二者在架构校验中的互补定位。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02000" y="4318000"/>
            <a:ext cx="400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302000" y="4318000"/>
            <a:ext cx="4000500" cy="457200"/>
          </a:xfrm>
          <a:prstGeom prst="roundRect">
            <a:avLst>
              <a:gd name="adj" fmla="val 0"/>
            </a:avLst>
          </a:prstGeom>
          <a:solidFill>
            <a:srgbClr val="007B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302000" y="4394200"/>
            <a:ext cx="400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Reconcile (事前校验)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29000" y="4953000"/>
            <a:ext cx="374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Patch 与旧图进行校验，关注 Patch 自身的自洽性，核心解决 Patch 节点与旧图的局部冲突问题，确保变更指令可被安全执行。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56500" y="4318000"/>
            <a:ext cx="387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556500" y="4318000"/>
            <a:ext cx="3873500" cy="457200"/>
          </a:xfrm>
          <a:prstGeom prst="roundRect">
            <a:avLst>
              <a:gd name="adj" fmla="val 0"/>
            </a:avLst>
          </a:prstGeom>
          <a:solidFill>
            <a:srgbClr val="007B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556500" y="4394200"/>
            <a:ext cx="3873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Lint (事后全局校验)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83500" y="4953000"/>
            <a:ext cx="361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仅以新生成的整图为输入，校验系统全局拓扑结构与状态是否符合预设的不变量规则，是对架构最终状态的整体性兜底检查。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Reconciliation Pass 要点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01. 新节点输入 (Input)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952513" y="272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921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提交节点属性：</a:t>
            </a:r>
            <a:b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entity_ref: 'TKT-A'，state: 'implemented'。</a:t>
            </a:r>
            <a:b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系统首先检索同ref的历史活跃节点。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1757" b="1757"/>
          <a:stretch>
            <a:fillRect/>
          </a:stretch>
        </p:blipFill>
        <p:spPr>
          <a:xfrm>
            <a:off x="4699000" y="2095500"/>
            <a:ext cx="2032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4572000" y="3873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比对旧节点state为'open'，</a:t>
            </a:r>
            <a:b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且Patch未提供invalidates字段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77082">
            <a:off x="3492500" y="31051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5377082">
            <a:off x="6032500" y="31051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239000" y="2032000"/>
            <a:ext cx="4191000" cy="2159000"/>
          </a:xfrm>
          <a:prstGeom prst="roundRect">
            <a:avLst>
              <a:gd name="adj" fmla="val 0"/>
            </a:avLst>
          </a:prstGeom>
          <a:solidFill>
            <a:srgbClr val="DC2626">
              <a:alpha val="15000"/>
            </a:srgbClr>
          </a:solidFill>
          <a:ln w="12700" cap="flat" cmpd="sng">
            <a:solidFill>
              <a:srgbClr val="DC262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4295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02. 阻断错误 (Error Output)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1459">
            <a:off x="7429511" y="2724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429500" y="2921000"/>
            <a:ext cx="381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触发 ERROR: MISSING_INVALIDATE</a:t>
            </a:r>
            <a:b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新旧状态互斥，但未显式废止旧节点，</a:t>
            </a:r>
            <a:b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为防止资源冲突，系统终止当前Pass流程。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443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00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7620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4826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AB30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弱兜底场景：无 entity_ref 节点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当节点未携带 entity_ref 时，无法进行精准的历史比对，系统仅抛出 WARNING: "No entity_ref, cannot reconcile"，流程不阻断，仅作日志记录，是兼容旧数据的过渡策略。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135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67500" y="4826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关键实现准则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互斥状态必须显式声明 invalidates；同时需确保 superseded_nodes 指向的节点真实存在且处于 active 状态，避免因引用悬空节点导致的隐性逻辑异常，保证依赖链的完整性。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Graph Lint 要点：全局不变量机械校验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39FF14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▍结构合规校验 (Pass)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929">
            <a:off x="952508" y="2660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857500"/>
            <a:ext cx="4889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✅ 所有 Relation 均属于预设合法集合，杜绝非法关联定义。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✅ 全图节点 ID 唯一无重复，确保实体标识的绝对一致性。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✅ 所有边（Edge）两端均连接有效节点，无悬空、游离的引用边。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FF4D4F">
              <a:alpha val="8000"/>
            </a:srgbClr>
          </a:solidFill>
          <a:ln w="12700" cap="flat" cmpd="sng">
            <a:solidFill>
              <a:srgbClr val="FF4D4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13500" y="2095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4D4F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▍核心规则红线 (Fail)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929">
            <a:off x="6413508" y="2660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4D4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13500" y="2857500"/>
            <a:ext cx="4889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❌ 存在非根 UserGoal 的孤立节点（degree=0），导致逻辑闭环断裂。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❌ 同一 entity_ref 下并存 open 与 deployed 互斥状态，引发状态冲突。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❌ 被 `invalidates` 指向的节点未标记 `superseded`，版本依赖链失效。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10731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5461000"/>
            <a:ext cx="1035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核心机制总结：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Graph Lint 作为 Agent 整图的“身体检查表”，全程不调用 LLM，仅通过纯规则引擎进行全局机械校验。它强制保证图谱的拓扑完整性、状态一致性与引用合法性，是确保 Agent 决策逻辑稳健运行的底层基石。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失败处理：有界重试 (Resilience 1)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9000" y="2286000"/>
            <a:ext cx="2286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520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链路逻辑：LLM Extractor 校验失败后，经由 Error JSON Builder 生成结构化错误报告，通过闭环反馈机制将错误信息拼回输入 Prompt，驱动下一轮精准重试。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9889">
            <a:off x="4191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04000" y="2032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731000" y="2159000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Reconcile 失败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通常意味着 Extractor 对信息存在漏判或理解偏差。此时重试具备明确修正价值，系统应自动触发新一轮解析。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271000" y="2032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398000" y="2159000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Lint 失败分类处理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本轮引入问题可重试修正；若为存量脏图/历史遗留数据错误，重试无效，需触发人工介入流程进行干预。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04000" y="4191000"/>
            <a:ext cx="5143500" cy="762000"/>
          </a:xfrm>
          <a:prstGeom prst="roundRect">
            <a:avLst>
              <a:gd name="adj" fmla="val 0"/>
            </a:avLst>
          </a:prstGeom>
          <a:solidFill>
            <a:srgbClr val="007B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4343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75500" y="4254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核心原则：重试必须“带着错误回去”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将结构化的错误报告完整拼入下一轮 Prompt，让模型明确“错因”，实现精准迭代。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0" y="5207000"/>
            <a:ext cx="5143500" cy="1143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731000" y="52705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4C8FF"/>
                </a:solidFill>
                <a:latin typeface="Menlo"/>
                <a:ea typeface="Menlo"/>
                <a:cs typeface="Menlo"/>
                <a:sym typeface="Menlo"/>
              </a:rPr>
              <a:t>{ "error_type": "MISSING_INVALIDATE", "node_id": "n_0045", "entity_ref": "TKT-2026", "old_state": "open", "new_state": "implemented" }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失败处理：超限隔离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8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风险识别：脏Patch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当重试次数超过设定阈值（建议 2-3 次）仍失败时，判定该 Patch 为“脏数据”。若强行合并，错误将沿 Ref 链路无限传播，彻底污染全量主图，导致后续所有计算轮次失效。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72000" y="2286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715000" y="2286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核心防线：拒绝合并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启动能量护盾，阻断脏Patch的写入操作，确保上一轮干净的主图状态不被破坏。</a:t>
            </a:r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355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35500" y="381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系统会立即触发熔断机制，阻止该批次数据进入主图合并流程，从源头切断污染路径，保障数据底座的纯净性。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032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l="12500" r="12499"/>
          <a:stretch>
            <a:fillRect/>
          </a:stretch>
        </p:blipFill>
        <p:spPr>
          <a:xfrm>
            <a:off x="8191500" y="2286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9334500" y="2286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隔离处置：归档记录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将失败的Patch封装入隔离舱，留存完整上下文日志，便于后续排查与复盘。</a:t>
            </a:r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255014" y="354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55000" y="381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将失败元数据写入独立的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quarantine/turn_xxx_failed.json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文件，实现故障数据的持久化留存与物理隔离。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8C00">
              <a:alpha val="15000"/>
            </a:srgbClr>
          </a:solidFill>
          <a:ln w="12700" cap="flat" cmpd="sng">
            <a:solidFill>
              <a:srgbClr val="FF8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689600"/>
            <a:ext cx="431800" cy="431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78000" y="56134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核心原则：宁可漏记一轮，不可污染全图。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以最小的“数据缺失”代价，规避系统性的“数据污染”风险，确保架构的鲁棒性与可恢复性。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验收标准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32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正常切片验证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验证 Slice Builder 核心逻辑正常工作，确保基础切片流程稳定输出，无异常阻断，保障核心功能可用性。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86500" y="1905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9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48500" y="2032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故意漏召回校验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构造缺失关键信息的 Fixture，验证 Reconcile 模块能精确匹配数据差异并抛出预期报错，确保校验机制精准生效。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365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55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492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全局 Lint 校验通过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修复后需确保无 open 与 deployed 状态并存、配置冲突等全局问题，保证系统元数据的一致性与规范性。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86500" y="3365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55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48500" y="3492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弱兜底兼容性测试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针对无 `entity_ref` 的历史遗留节点，系统应仅产生黄色 Warning 日志提示，不阻断核心流程，保障存量业务平稳运行。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01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953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异常场景失败隔离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在超限重试等异常场景下，脏 Patch 被彻底隔离，主图数据未被污染，核心业务链路的数据完整性得到有效保障。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86500" y="4826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39FF14">
              <a:alpha val="10000"/>
            </a:srgbClr>
          </a:solidFill>
          <a:ln w="12700" cap="flat" cmpd="sng">
            <a:solidFill>
              <a:srgbClr val="39FF14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501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4953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核心测试前提约束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所有测试 Fixture 必须强制携带 `entity_ref` 标识，以此作为数据关联、校验规则执行和异常隔离的核心基准。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 &amp; 下一步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结构化定义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111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entity_ref / state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结构，确立系统交互的统一语言，为正确性提供基础约束。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260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全局机械校验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6355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111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引入全图级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Reconcile + Lint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机制，在执行前拦截逻辑冲突，确保规划层与执行层的一致性。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2286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260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容错与隔离机制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291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111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有界重试 + 失败隔离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策略，将局部执行异常控制在最小范围，防止故障扩散影响全局。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445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4445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4572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核心认知一：切片≠正确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切片技术仅优化Token的使用效率，提升吞吐量，但它无法保证逻辑推导的正确性，这是效能与正确性的本质边界。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477000" y="4445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007BFF">
              <a:alpha val="15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4445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731000" y="4572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核心认知二：隔离是闭环基石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缺乏失败隔离机制的系统闭环是残缺的。任何复杂系统都无法避免局部失败，隔离是防止雪崩、维持系统存活的关键。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62000" y="5842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9817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460500" y="5918200"/>
            <a:ext cx="977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下一步预告：</a:t>
            </a: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串联 Slice → Prompt → 执行层 → 重试/隔离 的全链路闭环，构建可信赖的TaskGraph运行时系统。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1695</Words>
  <Application>Microsoft Office PowerPoint</Application>
  <PresentationFormat>宽屏</PresentationFormat>
  <Paragraphs>178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Menlo</vt:lpstr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海龙 刘</cp:lastModifiedBy>
  <cp:revision>1</cp:revision>
  <dcterms:modified xsi:type="dcterms:W3CDTF">2026-06-08T11:56:28Z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{"Label":"1","ContentProducer":"001191110102MACQD9K64010000","ProduceID":"7648922112402590671","ReservedCode1":"","ContentPropagator":"","PropagateID":"","ReservedCode2":""}</vt:lpwstr>
  </property>
</Properties>
</file>