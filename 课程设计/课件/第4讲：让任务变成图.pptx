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9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250" autoAdjust="0"/>
  </p:normalViewPr>
  <p:slideViewPr>
    <p:cSldViewPr snapToGrid="0">
      <p:cViewPr varScale="1">
        <p:scale>
          <a:sx n="92" d="100"/>
          <a:sy n="92" d="100"/>
        </p:scale>
        <p:origin x="1278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大家好。今天我们进入第 4 讲：让任务变成图。在 Agent 开发中，我们总是说“让大模型去思考”，但大模型思考的结果往往是一团模糊的文本。从今天开始，我们要用“Logic Graph”的思想，把这些模糊的思考过程，变成一张可以持续更新的、看得见的“任务依赖图”。我们的核心理念是：一个任务，就是一张持续演化的图。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首先，我们要降低预期，明确今天的定位。今天我们不需要造出一个全自动的 Claude Code 代替你写代码。我们要做的是一个 PoC，一个验证性系统。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我们要跑通这个流程：当用户进行多轮对话时，大模型扮演 Graph Extractor，从中抽取逻辑补丁，然后由一个 Python 程序把补丁打进总图中。最终，你会亲眼看到这个逻辑依赖图是怎么一轮一轮地“长”出来的。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可能会有人问：“我每轮对话都让 LLM 生成一张完整的图行不行？”答案是不行。这是个错误的模型。因为 LLM 的输入有 token 限制，它不可能每轮都记得所有旧图的内容。如果每轮重建新图，你会丢失大量信息，图之间无法对齐，更无法追踪一个方案为什么会变化。Logic Graph 的价值不是每轮重新造轮子，而是在原有逻辑上进行精准的修正和演化。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这是正确的模型。一个任务的生命周期内，只有一张 TaskGraph 持续存在。大模型在每一轮对话中，不负责生成最终的图，它只扮演“补丁生成器”的角色。它只找出变化的地方：新增了哪些节点，废弃了哪些节点，修改了哪些关系，生成一个 Patch（补丁），然后由专门的 Python 程序来合并这个 Patch。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那么，这张持续更新的任务图是什么时候启动的呢？我们划分了三种模式。高级的模式是全自动或半自动启动。但对于今天的 PoC，为了简单，我们采用手动启动模式：我们用一个斜杠命令，强制告诉系统，这是一个新的、复杂任务的开始，请开启 Logic Graph 进行逻辑追踪。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5E930-B6D8-AA81-5A23-5643DCEDC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D21F35-ED15-500E-80D0-8F37876F50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C0E90-3F8D-7862-70C1-44644029717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5E36AB5-5605-E98E-0BDD-E1C415368D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652D64D-D413-6771-5B65-C648CCF75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 Graph Extractor（LLM）需要输出的 JSON Patch 的结构。它非常清晰地定义了四种对图的操作：增、改、推翻、连线。这个 JSON 是 Python 代码能看懂的语言。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7317E-2869-121F-AC06-494DB24247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81BE4-68FD-5A2F-D1F9-91BF18A1C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62293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为了让图结构更具语义，我们统一定义了节点和关系的类型。在大模型的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Prompt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中，我们需要清晰地给出这些定义，以便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LLM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抽取出标准的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Patch。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左侧展示了我们定义的核心节点类型，涵盖了任务从最初的目标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(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UserGoal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)、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受到什么限制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(Constraint)、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调用了什么工具产生了什么事实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(Fact/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ToolResult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)，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最后达成了什么决策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(Decision)，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产生了什么文件修改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(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FileArtifact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)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以及还有什么待办事项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(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OpenTask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)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的全过程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右侧展示了节点间常用的关系，例如“refines”表示细化，“depends_on”表示依赖，“produces”表示产生，以及“invalidates”这种表示逻辑推翻的关键关系。明确这些关系能让我们更精确地描述任务流程中的逻辑链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这是我们今天 PoC 的核心执行流程图。我再次强调，这个流程不是一个完整的聊天 Agent，LLM 不会回答“好的，我知道了，这就做个 Minecraft Agent”这样的话。它收到原话后，只是扮演一个 Graph Extractor，专注于把自然语言里的逻辑转换成 Patch JSON。然后这个 JSON 被专门的 Python 程序处理，最终更新总图，并渲染出 Mermaid 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为了加强印象，我们对比一下。左边是大家常用的做法：直接问大模型。结果是大模型直接给出了方案。但在我们的 Logic Graph PoC 中，右边才是正确的。用户的一句话，我们要拦截下来，包装进特制的 Graph Extractor Prompt 中，让大模型变成一个逻辑抽取工具，它只输出 JSON 数据，而不解决问题本身。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我们在课堂上会用这个示例来跑通多轮对话。第一轮：用户提出最初目标，LLM 抽取出 UserGoal 节点和 Fact 事实节点。第二轮：用户提出一个想法（命令映射器），LLM 抽取出 Decision 节点。第三轮：用户补充信息说账号没有管理员（OP）权限。LLM 必须识别这个冲突，创建一个 Constraint 节点，标记它推翻（invalidates）了第二轮的那个客户端方案，并创建一个新的、修正后的 RCON 决策节点。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这是最终的 TaskGraph 长什么样（一个简化版）。我要特别指出那个红色的虚线框节点：旧的、错误的“客户端命令执行方案”。它并没有被物理删除。我们把它标记为 superseded（废弃），并保留了它被 Constraint 推翻的逻辑关系。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为什么？因为这也是任务逻辑的一部分：它记录了我们“试过这个方案但走不通”。这对于 Agent 在压缩上下文或追溯决策历史时，具有极高的逻辑价值。它避免了 AI 重蹈覆辙，也让整个系统的演进路径变得清晰可追溯。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最后，我们要统一认知。本讲配套的 Python 代码并不神秘。左边是它的能力：它只处理 Patch JSON，并负责把它安全地合并进全图中。右边不是它的能力：它不理解自然语言。自然语言理解（NLU）是由 LLM 配合 Prompt 来完成的。这二者必须明确分开：大模型负责把非结构化（NLU）变结构化（JSON），Python 负责结构化数据的合并和可视化。谢谢大家。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.jpeg"/><Relationship Id="rId7" Type="http://schemas.openxmlformats.org/officeDocument/2006/relationships/image" Target="../media/image24.sv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svg"/><Relationship Id="rId10" Type="http://schemas.openxmlformats.org/officeDocument/2006/relationships/image" Target="../media/image27.sv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jpe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svg"/><Relationship Id="rId3" Type="http://schemas.openxmlformats.org/officeDocument/2006/relationships/image" Target="../media/image2.jpeg"/><Relationship Id="rId7" Type="http://schemas.openxmlformats.org/officeDocument/2006/relationships/image" Target="../media/image41.svg"/><Relationship Id="rId12" Type="http://schemas.openxmlformats.org/officeDocument/2006/relationships/image" Target="../media/image46.png"/><Relationship Id="rId17" Type="http://schemas.openxmlformats.org/officeDocument/2006/relationships/image" Target="../media/image51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45.svg"/><Relationship Id="rId5" Type="http://schemas.openxmlformats.org/officeDocument/2006/relationships/image" Target="../media/image39.svg"/><Relationship Id="rId15" Type="http://schemas.openxmlformats.org/officeDocument/2006/relationships/image" Target="../media/image49.sv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svg"/><Relationship Id="rId1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svg"/><Relationship Id="rId3" Type="http://schemas.openxmlformats.org/officeDocument/2006/relationships/image" Target="../media/image2.jpeg"/><Relationship Id="rId7" Type="http://schemas.openxmlformats.org/officeDocument/2006/relationships/image" Target="../media/image55.sv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11" Type="http://schemas.openxmlformats.org/officeDocument/2006/relationships/image" Target="../media/image59.svg"/><Relationship Id="rId5" Type="http://schemas.openxmlformats.org/officeDocument/2006/relationships/image" Target="../media/image53.svg"/><Relationship Id="rId15" Type="http://schemas.openxmlformats.org/officeDocument/2006/relationships/image" Target="../media/image63.sv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svg"/><Relationship Id="rId1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2.jpe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image" Target="../media/image65.svg"/><Relationship Id="rId10" Type="http://schemas.openxmlformats.org/officeDocument/2006/relationships/image" Target="../media/image68.jpeg"/><Relationship Id="rId4" Type="http://schemas.openxmlformats.org/officeDocument/2006/relationships/image" Target="../media/image64.png"/><Relationship Id="rId9" Type="http://schemas.openxmlformats.org/officeDocument/2006/relationships/image" Target="../media/image6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54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5334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43000" y="1524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第4讲：让任务变成图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" y="2921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3429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400" b="0" i="0" u="none" strike="noStrike">
                <a:solidFill>
                  <a:srgbClr val="0A254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一个任务 = 一张持续更新的图</a:t>
            </a:r>
            <a:br>
              <a:rPr lang="en-US" sz="2400" b="0" i="0" u="none" strike="noStrike">
                <a:solidFill>
                  <a:srgbClr val="0A254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400" b="0" i="0" u="none" strike="noStrike">
                <a:solidFill>
                  <a:srgbClr val="0A254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每轮对话 = 一次 Graph Patch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5080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Logic Graph | TaskGraph | Patch | Mermaid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540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762000"/>
            <a:ext cx="1117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本讲不是造完整</a:t>
            </a:r>
            <a:r>
              <a:rPr lang="en-US" sz="2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Agent，而是跑通一个</a:t>
            </a:r>
            <a:r>
              <a:rPr lang="en-US" sz="2800" b="1" i="0" u="none" strike="noStrike" dirty="0" err="1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最小的多轮依赖图</a:t>
            </a:r>
            <a:r>
              <a:rPr lang="en-US" sz="2800" b="1" i="0" u="none" strike="noStrike" dirty="0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 PoC</a:t>
            </a:r>
            <a:r>
              <a:rPr lang="en-US" sz="2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08000" y="2286000"/>
            <a:ext cx="1651000" cy="2032000"/>
          </a:xfrm>
          <a:prstGeom prst="roundRect">
            <a:avLst>
              <a:gd name="adj" fmla="val 9230"/>
            </a:avLst>
          </a:prstGeom>
          <a:solidFill>
            <a:srgbClr val="14304E">
              <a:alpha val="95000"/>
            </a:srgbClr>
          </a:solidFill>
          <a:ln w="12700" cap="flat" cmpd="sng">
            <a:solidFill>
              <a:srgbClr val="FFBF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540000"/>
            <a:ext cx="762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571500" y="3302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用户多轮对话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User Multi-turn</a:t>
            </a:r>
          </a:p>
        </p:txBody>
      </p:sp>
      <p:sp>
        <p:nvSpPr>
          <p:cNvPr id="7" name="AutoShape 7"/>
          <p:cNvSpPr/>
          <p:nvPr/>
        </p:nvSpPr>
        <p:spPr>
          <a:xfrm>
            <a:off x="2413000" y="2286000"/>
            <a:ext cx="1651000" cy="2032000"/>
          </a:xfrm>
          <a:prstGeom prst="roundRect">
            <a:avLst>
              <a:gd name="adj" fmla="val 9230"/>
            </a:avLst>
          </a:prstGeom>
          <a:solidFill>
            <a:srgbClr val="14304E">
              <a:alpha val="95000"/>
            </a:srgbClr>
          </a:solidFill>
          <a:ln w="12700" cap="flat" cmpd="sng">
            <a:solidFill>
              <a:srgbClr val="FFBF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57500" y="2540000"/>
            <a:ext cx="762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476500" y="3302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Graph Extractor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大模型逻辑抽取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318000" y="2286000"/>
            <a:ext cx="1651000" cy="2032000"/>
          </a:xfrm>
          <a:prstGeom prst="roundRect">
            <a:avLst>
              <a:gd name="adj" fmla="val 9230"/>
            </a:avLst>
          </a:prstGeom>
          <a:solidFill>
            <a:srgbClr val="14304E">
              <a:alpha val="95000"/>
            </a:srgbClr>
          </a:solidFill>
          <a:ln w="12700" cap="flat" cmpd="sng">
            <a:solidFill>
              <a:srgbClr val="FFBF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62500" y="2540000"/>
            <a:ext cx="762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381500" y="3302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Graph Patch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生成逻辑补丁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2286000"/>
            <a:ext cx="1651000" cy="2032000"/>
          </a:xfrm>
          <a:prstGeom prst="roundRect">
            <a:avLst>
              <a:gd name="adj" fmla="val 9230"/>
            </a:avLst>
          </a:prstGeom>
          <a:solidFill>
            <a:srgbClr val="14304E">
              <a:alpha val="95000"/>
            </a:srgbClr>
          </a:solidFill>
          <a:ln w="12700" cap="flat" cmpd="sng">
            <a:solidFill>
              <a:srgbClr val="FFBF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2540000"/>
            <a:ext cx="762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286500" y="3302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GraphUpdater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合并逻辑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128000" y="2286000"/>
            <a:ext cx="1651000" cy="2032000"/>
          </a:xfrm>
          <a:prstGeom prst="roundRect">
            <a:avLst>
              <a:gd name="adj" fmla="val 9230"/>
            </a:avLst>
          </a:prstGeom>
          <a:solidFill>
            <a:srgbClr val="14304E">
              <a:alpha val="95000"/>
            </a:srgbClr>
          </a:solidFill>
          <a:ln w="12700" cap="flat" cmpd="sng">
            <a:solidFill>
              <a:srgbClr val="FFBF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72500" y="2540000"/>
            <a:ext cx="762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191500" y="3302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TaskGraph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任务依赖关系图</a:t>
            </a:r>
          </a:p>
        </p:txBody>
      </p:sp>
      <p:sp>
        <p:nvSpPr>
          <p:cNvPr id="19" name="AutoShape 19"/>
          <p:cNvSpPr/>
          <p:nvPr/>
        </p:nvSpPr>
        <p:spPr>
          <a:xfrm>
            <a:off x="10033000" y="2286000"/>
            <a:ext cx="1651000" cy="2032000"/>
          </a:xfrm>
          <a:prstGeom prst="roundRect">
            <a:avLst>
              <a:gd name="adj" fmla="val 9230"/>
            </a:avLst>
          </a:prstGeom>
          <a:solidFill>
            <a:srgbClr val="14304E">
              <a:alpha val="95000"/>
            </a:srgbClr>
          </a:solidFill>
          <a:ln w="12700" cap="flat" cmpd="sng">
            <a:solidFill>
              <a:srgbClr val="FFBF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77500" y="2540000"/>
            <a:ext cx="762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0096500" y="3302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Mermaid 图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可视化渲染输出</a:t>
            </a:r>
          </a:p>
        </p:txBody>
      </p:sp>
      <p:sp>
        <p:nvSpPr>
          <p:cNvPr id="22" name="AutoShape 22"/>
          <p:cNvSpPr/>
          <p:nvPr/>
        </p:nvSpPr>
        <p:spPr>
          <a:xfrm>
            <a:off x="508000" y="4953000"/>
            <a:ext cx="762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核心目标：在不依赖复杂</a:t>
            </a:r>
            <a:r>
              <a:rPr lang="en-US" sz="1400" b="0" i="0" u="none" strike="noStrike" dirty="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Agent </a:t>
            </a:r>
            <a:r>
              <a:rPr lang="en-US" sz="1400" b="0" i="0" u="none" strike="noStrike" dirty="0" err="1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框架的前提下，快速实现从“对话文本”到“可视化任务流”的闭环验证</a:t>
            </a:r>
            <a:r>
              <a:rPr lang="en-US" sz="1400" b="0" i="0" u="none" strike="noStrike" dirty="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 dirty="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关键技术点：结构化信息抽取、状态图的动态构建与合并、基于文本的可视化渲染</a:t>
            </a:r>
            <a:r>
              <a:rPr lang="en-US" sz="1400" b="0" i="0" u="none" strike="noStrike" dirty="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8382000" y="4953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BF00">
              <a:alpha val="15000"/>
            </a:srgbClr>
          </a:solidFill>
          <a:ln w="25400" cap="flat" cmpd="sng">
            <a:solidFill>
              <a:srgbClr val="FFBF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509000" y="5207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7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你</a:t>
            </a:r>
            <a:r>
              <a:rPr lang="en-US" sz="17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今天要亲</a:t>
            </a:r>
            <a:r>
              <a:rPr lang="zh-CN" altLang="en-US" sz="1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眼</a:t>
            </a:r>
            <a:r>
              <a:rPr lang="en-US" sz="17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看到</a:t>
            </a:r>
            <a:br>
              <a:rPr lang="en-US" sz="1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en-US" sz="17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任务图是如何长出来的</a:t>
            </a:r>
            <a:r>
              <a:rPr lang="en-US" sz="1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1016000"/>
            <a:ext cx="5461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12800" y="1397000"/>
            <a:ext cx="485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错误模型 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12800" y="2413000"/>
            <a:ext cx="48514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333"/>
              </a:lnSpc>
              <a:defRPr/>
            </a:pPr>
            <a:r>
              <a:rPr lang="en-US" sz="20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Turn 1 → Graph 1</a:t>
            </a:r>
            <a:endParaRPr lang="en-US" sz="1100" dirty="0"/>
          </a:p>
          <a:p>
            <a:pPr indent="0" algn="ctr">
              <a:lnSpc>
                <a:spcPct val="133333"/>
              </a:lnSpc>
            </a:pPr>
            <a:r>
              <a:rPr 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↓ (</a:t>
            </a:r>
            <a:r>
              <a:rPr lang="zh-CN" alt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可能会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遗忘上一轮信息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indent="0" algn="ctr">
              <a:lnSpc>
                <a:spcPct val="133333"/>
              </a:lnSpc>
            </a:pPr>
            <a:r>
              <a:rPr lang="en-US" sz="20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Turn 2 → Graph 2</a:t>
            </a:r>
          </a:p>
          <a:p>
            <a:pPr indent="0" algn="ctr">
              <a:lnSpc>
                <a:spcPct val="133333"/>
              </a:lnSpc>
            </a:pPr>
            <a:r>
              <a:rPr 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↓ (</a:t>
            </a:r>
            <a:r>
              <a:rPr lang="zh-CN" alt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可能会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遗忘上一轮信息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indent="0" algn="ctr">
              <a:lnSpc>
                <a:spcPct val="133333"/>
              </a:lnSpc>
            </a:pPr>
            <a:r>
              <a:rPr lang="en-US" sz="20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Turn 3 → Graph 3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016000"/>
            <a:ext cx="5461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527800" y="1397000"/>
            <a:ext cx="485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问题所在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527800" y="2286000"/>
            <a:ext cx="48514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41666"/>
              </a:lnSpc>
              <a:defRPr/>
            </a:pPr>
            <a:r>
              <a:rPr lang="en-US" sz="1800" b="0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🚫 一轮对话没有任务全貌，信息缺失严重</a:t>
            </a:r>
            <a:endParaRPr lang="en-US" sz="1100"/>
          </a:p>
          <a:p>
            <a:pPr indent="0" algn="l">
              <a:lnSpc>
                <a:spcPct val="141666"/>
              </a:lnSpc>
            </a:pPr>
            <a:r>
              <a:rPr lang="en-US" sz="1800" b="0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🚫 相邻两轮之间大量重复，浪费Token和时间</a:t>
            </a:r>
          </a:p>
          <a:p>
            <a:pPr indent="0" algn="l">
              <a:lnSpc>
                <a:spcPct val="141666"/>
              </a:lnSpc>
            </a:pPr>
            <a:r>
              <a:rPr lang="en-US" sz="1800" b="0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🚫 图越建越多，逻辑不统一，管理极度混乱</a:t>
            </a:r>
          </a:p>
          <a:p>
            <a:pPr indent="0" algn="l">
              <a:lnSpc>
                <a:spcPct val="141666"/>
              </a:lnSpc>
            </a:pPr>
            <a:r>
              <a:rPr lang="en-US" sz="1800" b="0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🚫 无法回溯与追踪，不知道方案为什么变化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5461000"/>
            <a:ext cx="12192000" cy="1397000"/>
          </a:xfrm>
          <a:prstGeom prst="roundRect">
            <a:avLst>
              <a:gd name="adj" fmla="val 0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0" y="5461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Logic Graph 的价值不在“建图”，而在“演化”。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1016000"/>
            <a:ext cx="5461000" cy="5207000"/>
          </a:xfrm>
          <a:prstGeom prst="roundRect">
            <a:avLst>
              <a:gd name="adj" fmla="val 292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正确模型：任务级图 + 轮次 Patch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4953000" cy="3556000"/>
          </a:xfrm>
          <a:prstGeom prst="roundRect">
            <a:avLst>
              <a:gd name="adj" fmla="val 2857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540000"/>
            <a:ext cx="4572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T (Task: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任务生命周期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↓　　　　　　　　　　　　↓　　　　　　　　　　　　↓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TG (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TaskGraph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持续更新的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DAG 图)　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Turn1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对话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　　Turn2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对话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　　Turn3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对话</a:t>
            </a:r>
            <a:endParaRPr lang="en-US" sz="1400" b="0" i="0" u="none" strike="noStrike" dirty="0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↓　　　　　　　　↓　　　　　　　↓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P1 (Patch 1)　　P2 (Patch 2)　　P3 (Patch 3)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↘　　　　　　　↘　　　　　　　↘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合并到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TG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016000"/>
            <a:ext cx="5461000" cy="5207000"/>
          </a:xfrm>
          <a:prstGeom prst="roundRect">
            <a:avLst>
              <a:gd name="adj" fmla="val 292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397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413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2730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2667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一个任务只维护</a:t>
            </a: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一张</a:t>
            </a:r>
            <a:r>
              <a:rPr lang="en-US" sz="18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TaskGraph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全生命周期内，数据模型统一，避免状态割裂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477000" y="3810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4127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493000" y="4064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每轮对话只生成</a:t>
            </a: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增量 Patch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大模型专注“修改”而非“重绘”，降低计算成本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477000" y="5080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1000" y="5397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493000" y="5334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Patch 仅记录</a:t>
            </a: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变化差异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不包含全量图数据，由后端负责最终合并与持久化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50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三种建图模式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500" y="1524000"/>
            <a:ext cx="3429000" cy="3937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500" y="1524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796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模式 A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手动启动 (教学用)</a:t>
            </a:r>
          </a:p>
        </p:txBody>
      </p:sp>
      <p:sp>
        <p:nvSpPr>
          <p:cNvPr id="8" name="AutoShape 8"/>
          <p:cNvSpPr/>
          <p:nvPr/>
        </p:nvSpPr>
        <p:spPr>
          <a:xfrm>
            <a:off x="825500" y="2921000"/>
            <a:ext cx="2921000" cy="2032000"/>
          </a:xfrm>
          <a:prstGeom prst="roundRect">
            <a:avLst>
              <a:gd name="adj" fmla="val 5000"/>
            </a:avLst>
          </a:prstGeom>
          <a:solidFill>
            <a:srgbClr val="28A74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3175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&gt; /task start</a:t>
            </a:r>
            <a:br>
              <a:rPr lang="en-US" sz="15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5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设计AI课程第4讲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524000"/>
            <a:ext cx="3429000" cy="3937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1524000"/>
            <a:ext cx="3429000" cy="76200"/>
          </a:xfrm>
          <a:prstGeom prst="roundRect">
            <a:avLst>
              <a:gd name="adj" fmla="val 0"/>
            </a:avLst>
          </a:prstGeom>
          <a:solidFill>
            <a:srgbClr val="17A2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190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18796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7A2B8"/>
                </a:solidFill>
                <a:latin typeface="Noto Sans SC"/>
                <a:ea typeface="Noto Sans SC"/>
                <a:cs typeface="Noto Sans SC"/>
                <a:sym typeface="Noto Sans SC"/>
              </a:rPr>
              <a:t>模式 B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半自动启动 (真实产品推荐)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 t="8333" b="8333"/>
          <a:stretch>
            <a:fillRect/>
          </a:stretch>
        </p:blipFill>
        <p:spPr>
          <a:xfrm>
            <a:off x="4572000" y="2794000"/>
            <a:ext cx="3048000" cy="1270000"/>
          </a:xfrm>
          <a:prstGeom prst="roundRect">
            <a:avLst>
              <a:gd name="adj" fmla="val 6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4572000" y="4191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系统检测到复杂任务后，弹出对话框询问：</a:t>
            </a:r>
            <a:b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“是否开启任务图进行逻辑追踪？”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1524000"/>
            <a:ext cx="3429000" cy="3937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91500" y="1524000"/>
            <a:ext cx="3429000" cy="76200"/>
          </a:xfrm>
          <a:prstGeom prst="roundRect">
            <a:avLst>
              <a:gd name="adj" fmla="val 0"/>
            </a:avLst>
          </a:prstGeom>
          <a:solidFill>
            <a:srgbClr val="DB709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45500" y="1905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017000" y="18796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B7093"/>
                </a:solidFill>
                <a:latin typeface="Noto Sans SC"/>
                <a:ea typeface="Noto Sans SC"/>
                <a:cs typeface="Noto Sans SC"/>
                <a:sym typeface="Noto Sans SC"/>
              </a:rPr>
              <a:t>模式 C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全自动启动 (高级阶段)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445500" y="2921000"/>
            <a:ext cx="2921000" cy="2032000"/>
          </a:xfrm>
          <a:prstGeom prst="roundRect">
            <a:avLst>
              <a:gd name="adj" fmla="val 5000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572500" y="3175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系统根据多 Agent 协作网络自动判断是否挂接旧图或新建图。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651000" y="5715000"/>
            <a:ext cx="8890000" cy="889000"/>
          </a:xfrm>
          <a:prstGeom prst="roundRect">
            <a:avLst>
              <a:gd name="adj" fmla="val 17142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59000" y="59182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2921000" y="5715000"/>
            <a:ext cx="711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本讲只实现模式 A（手动启动）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Graph Patch 数据结构1-</a:t>
            </a:r>
            <a:r>
              <a:rPr lang="zh-CN" altLang="en-US" sz="28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节点结构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2141680" y="1651000"/>
            <a:ext cx="7656945" cy="4572000"/>
          </a:xfrm>
          <a:prstGeom prst="roundRect">
            <a:avLst>
              <a:gd name="adj" fmla="val 3333"/>
            </a:avLst>
          </a:prstGeom>
          <a:solidFill>
            <a:srgbClr val="1A202C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4" name="AutoShape 4"/>
          <p:cNvSpPr/>
          <p:nvPr/>
        </p:nvSpPr>
        <p:spPr>
          <a:xfrm>
            <a:off x="2472459" y="1905000"/>
            <a:ext cx="664441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sz="1100" dirty="0"/>
          </a:p>
          <a:p>
            <a:pPr marL="254000" indent="0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lang="en-US" sz="1600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node</a:t>
            </a: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_id"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1600" b="0" i="0" u="none" strike="noStrike" dirty="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lang="en-US" sz="1600" dirty="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n_0007</a:t>
            </a:r>
            <a:r>
              <a:rPr lang="en-US" sz="1600" b="0" i="0" u="none" strike="noStrike" dirty="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</a:p>
          <a:p>
            <a:pPr marL="254000" indent="0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lang="en-US" sz="1600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1600" dirty="0">
                <a:solidFill>
                  <a:srgbClr val="F43F5E"/>
                </a:solidFill>
                <a:latin typeface="Roboto Mono"/>
                <a:ea typeface="Roboto Mono"/>
                <a:cs typeface="Roboto Mono"/>
                <a:sym typeface="Roboto Mono"/>
              </a:rPr>
              <a:t>”</a:t>
            </a:r>
            <a:r>
              <a:rPr lang="en-US" sz="1600" dirty="0" err="1">
                <a:solidFill>
                  <a:srgbClr val="F43F5E"/>
                </a:solidFill>
                <a:latin typeface="Roboto Mono"/>
                <a:ea typeface="Roboto Mono"/>
                <a:cs typeface="Roboto Mono"/>
                <a:sym typeface="Roboto Mono"/>
              </a:rPr>
              <a:t>Contraint</a:t>
            </a:r>
            <a:r>
              <a:rPr lang="en-US" sz="1600" dirty="0">
                <a:solidFill>
                  <a:srgbClr val="F43F5E"/>
                </a:solidFill>
                <a:latin typeface="Roboto Mono"/>
                <a:ea typeface="Roboto Mono"/>
                <a:cs typeface="Roboto Mono"/>
                <a:sym typeface="Roboto Mono"/>
              </a:rPr>
              <a:t>”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</a:p>
          <a:p>
            <a:pPr marL="254000" indent="0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“content”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zh-CN" alt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lang="zh-CN" altLang="en-US" sz="1600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孩子没有管理员权限，不能用客户端输入命令</a:t>
            </a:r>
            <a:r>
              <a:rPr lang="zh-CN" alt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”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,</a:t>
            </a:r>
          </a:p>
          <a:p>
            <a:pPr marL="254000" indent="0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lang="en-US" sz="1600" dirty="0" err="1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created_at_turn</a:t>
            </a: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 2,</a:t>
            </a:r>
          </a:p>
          <a:p>
            <a:pPr marL="254000" indent="0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1600" b="0" i="0" u="none" strike="noStrike" dirty="0" err="1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superseded_nodes</a:t>
            </a: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 [],</a:t>
            </a:r>
          </a:p>
          <a:p>
            <a:pPr marL="254000" indent="0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lang="en-US" sz="1600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status</a:t>
            </a:r>
            <a:r>
              <a:rPr lang="en-US" sz="1600" b="0" i="0" u="none" strike="noStrike" dirty="0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”</a:t>
            </a: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zh-CN" altLang="en-US" sz="1600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lang="en-US" altLang="zh-CN" sz="1600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active</a:t>
            </a:r>
            <a:r>
              <a:rPr lang="zh-CN" altLang="en-US" sz="1600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”</a:t>
            </a:r>
            <a:endParaRPr lang="en-US" sz="1600" b="0" i="0" u="none" strike="noStrike" dirty="0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  <a:p>
            <a:pPr indent="0">
              <a:lnSpc>
                <a:spcPct val="125000"/>
              </a:lnSpc>
            </a:pPr>
            <a:r>
              <a:rPr lang="en-US" sz="1600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Status</a:t>
            </a:r>
            <a:r>
              <a:rPr lang="zh-CN" altLang="en-US" sz="1600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只有三种值：</a:t>
            </a:r>
            <a:r>
              <a:rPr lang="en-US" altLang="zh-CN" sz="1600" dirty="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active/superseded/done</a:t>
            </a:r>
            <a:endParaRPr lang="en-US" sz="1600" b="0" i="0" u="none" strike="noStrike" dirty="0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F4CBD-EEEA-A0D4-3414-2B030539C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A6123DD-40CB-CA75-6BCB-A34DEFC0073E}"/>
              </a:ext>
            </a:extLst>
          </p:cNvPr>
          <p:cNvSpPr/>
          <p:nvPr/>
        </p:nvSpPr>
        <p:spPr>
          <a:xfrm>
            <a:off x="0" y="50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Graph Patch 数据结构2-Patch</a:t>
            </a:r>
            <a:r>
              <a:rPr lang="zh-CN" altLang="en-US" sz="28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结构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3B902F6-4C7E-961C-CEFB-6104CC689D5F}"/>
              </a:ext>
            </a:extLst>
          </p:cNvPr>
          <p:cNvSpPr/>
          <p:nvPr/>
        </p:nvSpPr>
        <p:spPr>
          <a:xfrm>
            <a:off x="635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A202C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2D5D838-2EB3-AE3B-B21F-DCF8C846F082}"/>
              </a:ext>
            </a:extLst>
          </p:cNvPr>
          <p:cNvSpPr/>
          <p:nvPr/>
        </p:nvSpPr>
        <p:spPr>
          <a:xfrm>
            <a:off x="889000" y="1905000"/>
            <a:ext cx="4699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sz="1100"/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"task_id"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1600" b="0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"task_001"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"turn_id"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1600" b="0" i="0" u="none" strike="noStrike">
                <a:solidFill>
                  <a:srgbClr val="F43F5E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"new_nodes"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 [],</a:t>
            </a:r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"updated_nodes"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 [],</a:t>
            </a:r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"superseded_nodes"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 [],</a:t>
            </a:r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BF00"/>
                </a:solidFill>
                <a:latin typeface="Roboto Mono"/>
                <a:ea typeface="Roboto Mono"/>
                <a:cs typeface="Roboto Mono"/>
                <a:sym typeface="Roboto Mono"/>
              </a:rPr>
              <a:t>"new_edges"</a:t>
            </a: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: []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A731CAF-507B-9D42-AEFD-040F0829702D}"/>
              </a:ext>
            </a:extLst>
          </p:cNvPr>
          <p:cNvSpPr/>
          <p:nvPr/>
        </p:nvSpPr>
        <p:spPr>
          <a:xfrm>
            <a:off x="6350000" y="1651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3424B036-358B-901E-379F-46FFC2E00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3200" y="1879600"/>
            <a:ext cx="457200" cy="457200"/>
          </a:xfrm>
          <a:prstGeom prst="rect">
            <a:avLst/>
          </a:prstGeom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BAC25054-A7A7-A7EA-D395-6DC27177DF01}"/>
              </a:ext>
            </a:extLst>
          </p:cNvPr>
          <p:cNvSpPr/>
          <p:nvPr/>
        </p:nvSpPr>
        <p:spPr>
          <a:xfrm>
            <a:off x="7239000" y="1778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new_nodes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：新增节点集合，包含本次会话生成的所有新知识点或实体。</a:t>
            </a:r>
            <a:endParaRPr lang="en-US"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451D4CB-C393-046C-6D1F-490AB3ABE9E4}"/>
              </a:ext>
            </a:extLst>
          </p:cNvPr>
          <p:cNvSpPr/>
          <p:nvPr/>
        </p:nvSpPr>
        <p:spPr>
          <a:xfrm>
            <a:off x="6350000" y="2794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2D39A9C0-6993-13B3-2878-3672D03084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3200" y="3022600"/>
            <a:ext cx="457200" cy="457200"/>
          </a:xfrm>
          <a:prstGeom prst="rect">
            <a:avLst/>
          </a:prstGeom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65024A6B-CC9F-3C21-AE94-4CE2D5659CEA}"/>
              </a:ext>
            </a:extLst>
          </p:cNvPr>
          <p:cNvSpPr/>
          <p:nvPr/>
        </p:nvSpPr>
        <p:spPr>
          <a:xfrm>
            <a:off x="7239000" y="2921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updated_nodes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：更新已有节点的元数据（Metadata），如节点重要性权重的变化。</a:t>
            </a:r>
            <a:endParaRPr lang="en-US"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50FD69C7-5F4B-1F16-941D-F7FF4D566AF0}"/>
              </a:ext>
            </a:extLst>
          </p:cNvPr>
          <p:cNvSpPr/>
          <p:nvPr/>
        </p:nvSpPr>
        <p:spPr>
          <a:xfrm>
            <a:off x="6350000" y="3937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9DC782CA-DD5E-AB25-6413-E2F7BE6A50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53200" y="4165600"/>
            <a:ext cx="457200" cy="457200"/>
          </a:xfrm>
          <a:prstGeom prst="rect">
            <a:avLst/>
          </a:prstGeom>
        </p:spPr>
      </p:pic>
      <p:sp>
        <p:nvSpPr>
          <p:cNvPr id="13" name="AutoShape 13">
            <a:extLst>
              <a:ext uri="{FF2B5EF4-FFF2-40B4-BE49-F238E27FC236}">
                <a16:creationId xmlns:a16="http://schemas.microsoft.com/office/drawing/2014/main" id="{943145A1-EFA6-C079-4136-F484B3D4C1B7}"/>
              </a:ext>
            </a:extLst>
          </p:cNvPr>
          <p:cNvSpPr/>
          <p:nvPr/>
        </p:nvSpPr>
        <p:spPr>
          <a:xfrm>
            <a:off x="7239000" y="4064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superseded_nodes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：被推翻、取代的旧节点 ID 集合，用于图结构的“回滚”或修正。</a:t>
            </a:r>
            <a:endParaRPr lang="en-US"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1E467D4D-7506-3714-A499-AD2C82AA0113}"/>
              </a:ext>
            </a:extLst>
          </p:cNvPr>
          <p:cNvSpPr/>
          <p:nvPr/>
        </p:nvSpPr>
        <p:spPr>
          <a:xfrm>
            <a:off x="6350000" y="5080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3E80B85E-0C48-17B3-080D-456FB0CD4C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3200" y="5308600"/>
            <a:ext cx="457200" cy="457200"/>
          </a:xfrm>
          <a:prstGeom prst="rect">
            <a:avLst/>
          </a:prstGeom>
        </p:spPr>
      </p:pic>
      <p:sp>
        <p:nvSpPr>
          <p:cNvPr id="16" name="AutoShape 16">
            <a:extLst>
              <a:ext uri="{FF2B5EF4-FFF2-40B4-BE49-F238E27FC236}">
                <a16:creationId xmlns:a16="http://schemas.microsoft.com/office/drawing/2014/main" id="{A9E547D2-A586-64AD-3258-47166A6CE05A}"/>
              </a:ext>
            </a:extLst>
          </p:cNvPr>
          <p:cNvSpPr/>
          <p:nvPr/>
        </p:nvSpPr>
        <p:spPr>
          <a:xfrm>
            <a:off x="7239000" y="5207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new_edges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：节点之间新增的关系边集合，定义实体间的关联逻辑。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46186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4572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节点类型与关系类型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397000"/>
            <a:ext cx="52705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B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651000"/>
            <a:ext cx="4762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七种节点类型 (Nodes)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413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79500" y="2489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UserGoal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· 用户目标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175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79500" y="3251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Constraint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· 约束条件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937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79500" y="4013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Fact / ToolResult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· 事实 / 工具调用结果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" y="4699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79500" y="4775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Decision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· 关键决策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" y="5461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79500" y="5537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FileArtifact</a:t>
            </a:r>
            <a:r>
              <a:rPr lang="en-US" sz="16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6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OpenTask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文件变更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待办事项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286500" y="1397000"/>
            <a:ext cx="52705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B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540500" y="1651000"/>
            <a:ext cx="4762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常用关系类型 (Relationships)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2413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731000" y="2489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refines / implements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· 细化目标 / 具体实现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40500" y="3175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731000" y="3251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serves / depends_on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· 服务于目标 / 依赖关系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40500" y="3937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731000" y="4013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produces / derived_from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· 产生结果 / 源于事实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40500" y="4699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731000" y="4775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invalidates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· 推翻 (逻辑冲突时使用)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40500" y="5461000"/>
            <a:ext cx="4762500" cy="533400"/>
          </a:xfrm>
          <a:prstGeom prst="roundRect">
            <a:avLst>
              <a:gd name="adj" fmla="val 14285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731000" y="5537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Note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· 所有关系均为有向边 (Directed Edge)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50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实际执行流程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500" y="1778000"/>
            <a:ext cx="1397000" cy="2286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2032000"/>
            <a:ext cx="762000" cy="762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350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用户原话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User Input</a:t>
            </a:r>
          </a:p>
        </p:txBody>
      </p:sp>
      <p:sp>
        <p:nvSpPr>
          <p:cNvPr id="7" name="AutoShape 7"/>
          <p:cNvSpPr/>
          <p:nvPr/>
        </p:nvSpPr>
        <p:spPr>
          <a:xfrm>
            <a:off x="2222500" y="1778000"/>
            <a:ext cx="1397000" cy="2286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40000" y="2032000"/>
            <a:ext cx="762000" cy="762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2860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Prompt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Graph Extractor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873500" y="1778000"/>
            <a:ext cx="1397000" cy="2286000"/>
          </a:xfrm>
          <a:prstGeom prst="roundRect">
            <a:avLst>
              <a:gd name="adj" fmla="val 7272"/>
            </a:avLst>
          </a:prstGeom>
          <a:solidFill>
            <a:srgbClr val="F3E8FF">
              <a:alpha val="100000"/>
            </a:srgbClr>
          </a:solidFill>
          <a:ln w="25400" cap="flat" cmpd="sng">
            <a:solidFill>
              <a:srgbClr val="A78BFA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1000" y="2032000"/>
            <a:ext cx="762000" cy="762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9370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B21A8"/>
                </a:solidFill>
                <a:latin typeface="Noto Sans SC"/>
                <a:ea typeface="Noto Sans SC"/>
                <a:cs typeface="Noto Sans SC"/>
                <a:sym typeface="Noto Sans SC"/>
              </a:rPr>
              <a:t>LLM 大模型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21A8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Patch Extraction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524500" y="1778000"/>
            <a:ext cx="1397000" cy="2286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42000" y="2032000"/>
            <a:ext cx="762000" cy="762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880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Graph Patch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JSON Format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175500" y="1778000"/>
            <a:ext cx="1397000" cy="2286000"/>
          </a:xfrm>
          <a:prstGeom prst="roundRect">
            <a:avLst>
              <a:gd name="adj" fmla="val 7272"/>
            </a:avLst>
          </a:prstGeom>
          <a:solidFill>
            <a:srgbClr val="E0F2FE">
              <a:alpha val="100000"/>
            </a:srgbClr>
          </a:solidFill>
          <a:ln w="25400" cap="flat" cmpd="sng">
            <a:solidFill>
              <a:srgbClr val="38BDF8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93000" y="2032000"/>
            <a:ext cx="762000" cy="762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390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369A1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Updater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0369A1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Merge Logic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826500" y="1778000"/>
            <a:ext cx="1397000" cy="2286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44000" y="2032000"/>
            <a:ext cx="762000" cy="762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8900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TaskGraph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In-Memory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0414000" y="1778000"/>
            <a:ext cx="1397000" cy="2286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31500" y="2032000"/>
            <a:ext cx="762000" cy="762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0477500" y="304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Mermaid 图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Visual Output</a:t>
            </a:r>
          </a:p>
        </p:txBody>
      </p:sp>
      <p:sp>
        <p:nvSpPr>
          <p:cNvPr id="25" name="AutoShape 25"/>
          <p:cNvSpPr/>
          <p:nvPr/>
        </p:nvSpPr>
        <p:spPr>
          <a:xfrm>
            <a:off x="571500" y="4953000"/>
            <a:ext cx="11239500" cy="1270000"/>
          </a:xfrm>
          <a:prstGeom prst="roundRect">
            <a:avLst>
              <a:gd name="adj" fmla="val 1200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62000" y="5143500"/>
            <a:ext cx="1085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大模型在这里不回答用户问题，而是扮演 Graph Extractor，只负责抽取依赖图补丁。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8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错误做法 vs 正确做法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397000"/>
            <a:ext cx="5461000" cy="3810000"/>
          </a:xfrm>
          <a:prstGeom prst="roundRect">
            <a:avLst>
              <a:gd name="adj" fmla="val 4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C3545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98500" y="1651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错误做法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4953000" cy="889000"/>
          </a:xfrm>
          <a:prstGeom prst="roundRect">
            <a:avLst>
              <a:gd name="adj" fmla="val 11428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DC354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603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540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“我想做一个 Minecraft AI Agent，能帮我写个实现方案吗？”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84500" y="3429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62000" y="4064000"/>
            <a:ext cx="4953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254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4191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LLM：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直接生成了一大段自然语言描述的技术方案，包含大量的主观推测，内容冗长且边界模糊，无法直接用于开发。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397000"/>
            <a:ext cx="5461000" cy="3810000"/>
          </a:xfrm>
          <a:prstGeom prst="roundRect">
            <a:avLst>
              <a:gd name="adj" fmla="val 4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28A745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13500" y="1651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✅ 正确做法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286000"/>
            <a:ext cx="4953000" cy="698500"/>
          </a:xfrm>
          <a:prstGeom prst="roundRect">
            <a:avLst>
              <a:gd name="adj" fmla="val 14545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2413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9000" y="24130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用户输入：“我想做一个 Minecraft AI Agent……”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3175000"/>
            <a:ext cx="4953000" cy="698500"/>
          </a:xfrm>
          <a:prstGeom prst="roundRect">
            <a:avLst>
              <a:gd name="adj" fmla="val 14545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D9770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3302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239000" y="33020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Graph Extractor Prompt 包装：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将需求转化为对特定逻辑结构的抽取指令。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127500"/>
            <a:ext cx="49530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7500" y="4318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239000" y="4254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LLM 输出：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 Schema，仅输出标准、结构化的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Patch JSON 数据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，不含任何自然语言解释。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0" y="5588000"/>
            <a:ext cx="12192000" cy="1270000"/>
          </a:xfrm>
          <a:prstGeom prst="roundRect">
            <a:avLst>
              <a:gd name="adj" fmla="val 0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0" y="5588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Graph Extractor 不解决问题，只抽取图补丁。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44500"/>
            <a:ext cx="1219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三轮课堂示例：Minecraft AI Agent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8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5875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49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Round 1 · 目标确立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User Goal: 玩家提出 “用中文控制AI在MC里造房子”</a:t>
            </a:r>
            <a:b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Fact: 模型生成支持中文语义解析的 UserGoal 节点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238500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8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29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390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Round 2 · 方案构思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000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Idea: 提出“客户端命令映射器”作为初步方案</a:t>
            </a:r>
            <a:b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Decision: 新增节点，将中文指令转为游戏客户端可执行代码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5080000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8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270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5232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Round 3 · 冲突与修正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778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Constraint: 发现账号无OP权限，</a:t>
            </a:r>
            <a:r>
              <a:rPr lang="en-US" sz="1300" b="1" i="0" u="none" strike="noStrike">
                <a:solidFill>
                  <a:srgbClr val="DC2626"/>
                </a:solidFill>
                <a:latin typeface="Roboto Mono"/>
                <a:ea typeface="Roboto Mono"/>
                <a:cs typeface="Roboto Mono"/>
                <a:sym typeface="Roboto Mono"/>
              </a:rPr>
              <a:t>推翻(invalidates)</a:t>
            </a:r>
            <a: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原方案</a:t>
            </a:r>
            <a:br>
              <a:rPr lang="en-US" sz="13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Decision: 修正为“使用 RCON 远程协议”方案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rcRect l="12329" r="12329"/>
          <a:stretch>
            <a:fillRect/>
          </a:stretch>
        </p:blipFill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223000" y="6223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Minecraft 多轮交互与冲突解决示意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38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 TaskGraph 长什么样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588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587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TaskGraph 逻辑结构 (简化版)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1524000" cy="1143000"/>
          </a:xfrm>
          <a:prstGeom prst="roundRect">
            <a:avLst>
              <a:gd name="adj" fmla="val 888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0A254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79500" y="2286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🎯 User Goal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 Minecraft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</a:t>
            </a:r>
          </a:p>
        </p:txBody>
      </p:sp>
      <p:sp>
        <p:nvSpPr>
          <p:cNvPr id="8" name="AutoShape 8"/>
          <p:cNvSpPr/>
          <p:nvPr/>
        </p:nvSpPr>
        <p:spPr>
          <a:xfrm>
            <a:off x="2794000" y="2159000"/>
            <a:ext cx="1524000" cy="1143000"/>
          </a:xfrm>
          <a:prstGeom prst="roundRect">
            <a:avLst>
              <a:gd name="adj" fmla="val 8888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857500" y="2286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💡 Fact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支持中文控制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Minecraft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572000" y="2159000"/>
            <a:ext cx="1524000" cy="1143000"/>
          </a:xfrm>
          <a:prstGeom prst="roundRect">
            <a:avLst>
              <a:gd name="adj" fmla="val 8888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9731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635500" y="2286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Constraint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普通账号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 OP 权限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16000" y="3683000"/>
            <a:ext cx="2413000" cy="1270000"/>
          </a:xfrm>
          <a:prstGeom prst="roundRect">
            <a:avLst>
              <a:gd name="adj" fmla="val 8000"/>
            </a:avLst>
          </a:prstGeom>
          <a:solidFill>
            <a:srgbClr val="FFE6E6">
              <a:alpha val="100000"/>
            </a:srgbClr>
          </a:solidFill>
          <a:ln w="25400" cap="flat" cmpd="sng">
            <a:solidFill>
              <a:srgbClr val="DC3545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79500" y="3810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❌ Superseded (废弃)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客户端斜杠命令执行方案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(被 Constraint 推翻)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683000" y="3683000"/>
            <a:ext cx="2413000" cy="1270000"/>
          </a:xfrm>
          <a:prstGeom prst="roundRect">
            <a:avLst>
              <a:gd name="adj" fmla="val 8000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3746500" y="3810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✅ Decision (采纳)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改用服务端 RCON 方案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(由废弃方案改进而来)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16000" y="5207000"/>
            <a:ext cx="50800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dot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43000" y="5334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🎯 OpenTask: 接入 RCON 并测试 /give 指令功能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1397000"/>
            <a:ext cx="4826000" cy="4953000"/>
          </a:xfrm>
          <a:prstGeom prst="roundRect">
            <a:avLst>
              <a:gd name="adj" fmla="val 3157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0" y="17145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620000" y="1651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被推翻的节点不删除，而是“留痕”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858000" y="2667000"/>
            <a:ext cx="4318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 marL="292100" indent="-165100"/>
            <a:lvl2pPr marL="749300" indent="-165100"/>
            <a:lvl3pPr marL="1206500" indent="-165100"/>
            <a:lvl4pPr marL="1663700" indent="-165100"/>
            <a:lvl5pPr marL="2120900" indent="-165100"/>
            <a:lvl6pPr marL="2578100" indent="-165100"/>
            <a:lvl7pPr marL="3035300" indent="-165100"/>
            <a:lvl8pPr marL="3492500" indent="-165100"/>
            <a:lvl9pPr marL="3949700" indent="-165100"/>
          </a:lstStyle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为什么要保留错误的路径？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这不仅是一个记录，更是逻辑的一部分。TaskGraph 旨在保留决策的“上下文”：</a:t>
            </a:r>
          </a:p>
          <a:p>
            <a:pPr marL="292100" indent="-165100" algn="l">
              <a:lnSpc>
                <a:spcPct val="116666"/>
              </a:lnSpc>
              <a:spcBef>
                <a:spcPts val="1000"/>
              </a:spcBef>
              <a:buClr>
                <a:srgbClr val="1F2937"/>
              </a:buClr>
              <a:buChar char="•"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避免重复踩坑：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防止 AI Agent 在后续的迭代中，重新探索一条已经被证伪的路径，节省算力和时间。</a:t>
            </a:r>
          </a:p>
          <a:p>
            <a:pPr marL="292100" indent="-165100" algn="l">
              <a:lnSpc>
                <a:spcPct val="116666"/>
              </a:lnSpc>
              <a:spcBef>
                <a:spcPts val="800"/>
              </a:spcBef>
              <a:buClr>
                <a:srgbClr val="1F2937"/>
              </a:buClr>
              <a:buChar char="•"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决策逻辑闭环：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清晰展示“某个方案为什么不可行”以及“新方案是如何基于旧方案改进的”，形成完整的因果链条。</a:t>
            </a:r>
          </a:p>
          <a:p>
            <a:pPr marL="292100" indent="-165100" algn="l">
              <a:lnSpc>
                <a:spcPct val="116666"/>
              </a:lnSpc>
              <a:spcBef>
                <a:spcPts val="800"/>
              </a:spcBef>
              <a:buClr>
                <a:srgbClr val="1F2937"/>
              </a:buClr>
              <a:buChar char="•"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可追溯性：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方便开发者和 Agent 自己回溯历史，理解系统当前的状态是如何演进而来的。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最小代码到底验证了什么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686050" y="1587500"/>
            <a:ext cx="65659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940050" y="1841500"/>
            <a:ext cx="546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logic_graph_task.py </a:t>
            </a:r>
            <a:r>
              <a:rPr lang="en-US" sz="20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做什么</a:t>
            </a:r>
            <a:r>
              <a:rPr lang="en-US" sz="20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2940050" y="2603500"/>
            <a:ext cx="5461000" cy="1206500"/>
          </a:xfrm>
          <a:prstGeom prst="roundRect">
            <a:avLst>
              <a:gd name="adj" fmla="val 8421"/>
            </a:avLst>
          </a:prstGeom>
          <a:solidFill>
            <a:srgbClr val="FFF7E1">
              <a:alpha val="100000"/>
            </a:srgbClr>
          </a:solidFill>
          <a:ln w="12700" cap="flat" cmpd="sng">
            <a:solidFill>
              <a:srgbClr val="FFBF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30550" y="28829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829050" y="27305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它会做 (✅)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JSON ➔ Python ➔ TaskGraph ➔ Mermaid</a:t>
            </a:r>
          </a:p>
        </p:txBody>
      </p:sp>
      <p:sp>
        <p:nvSpPr>
          <p:cNvPr id="10" name="AutoShape 10"/>
          <p:cNvSpPr/>
          <p:nvPr/>
        </p:nvSpPr>
        <p:spPr>
          <a:xfrm>
            <a:off x="2940050" y="4000500"/>
            <a:ext cx="5461000" cy="1206500"/>
          </a:xfrm>
          <a:prstGeom prst="roundRect">
            <a:avLst>
              <a:gd name="adj" fmla="val 8421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0550" y="42799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829050" y="41275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它不会做 (❌)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 ➔ 自动理解 ➔ JSON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940050" y="5334000"/>
            <a:ext cx="5461000" cy="571500"/>
          </a:xfrm>
          <a:prstGeom prst="roundRect">
            <a:avLst>
              <a:gd name="adj" fmla="val 17777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2940050" y="5334000"/>
            <a:ext cx="495808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最小代码会产生依赖图，但前提是你已有</a:t>
            </a:r>
            <a:r>
              <a:rPr lang="en-US" sz="13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Patch。它不是</a:t>
            </a:r>
            <a:r>
              <a:rPr lang="en-US" sz="13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NLU，而是图合并器</a:t>
            </a:r>
            <a:r>
              <a:rPr lang="en-US" sz="13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54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欢迎提问 · 共同探讨 · 持续进步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1338</Words>
  <Application>Microsoft Office PowerPoint</Application>
  <PresentationFormat>宽屏</PresentationFormat>
  <Paragraphs>200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Noto Sans SC</vt:lpstr>
      <vt:lpstr>Arial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海龙 刘</cp:lastModifiedBy>
  <cp:revision>6</cp:revision>
  <dcterms:modified xsi:type="dcterms:W3CDTF">2026-05-18T11:04:05Z</dcterms:modified>
</cp:coreProperties>
</file>